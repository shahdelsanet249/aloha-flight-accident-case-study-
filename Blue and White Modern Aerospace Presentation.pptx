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Neue Machina Ultra-Bold" charset="1" panose="00000900000000000000"/>
      <p:regular r:id="rId16"/>
    </p:embeddedFont>
    <p:embeddedFont>
      <p:font typeface="Neue Machina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HHM1bTxLs.mp4" Type="http://schemas.openxmlformats.org/officeDocument/2006/relationships/video"/><Relationship Id="rId4" Target="../media/VAHHM1bTxLs.mp4" Type="http://schemas.microsoft.com/office/2007/relationships/media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4097" y="3115648"/>
            <a:ext cx="9262129" cy="7959642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82" y="0"/>
              <a:ext cx="806036" cy="698500"/>
            </a:xfrm>
            <a:custGeom>
              <a:avLst/>
              <a:gdLst/>
              <a:ahLst/>
              <a:cxnLst/>
              <a:rect r="r" b="b" t="t" l="l"/>
              <a:pathLst>
                <a:path h="698500" w="806036">
                  <a:moveTo>
                    <a:pt x="803113" y="360087"/>
                  </a:moveTo>
                  <a:lnTo>
                    <a:pt x="612523" y="687663"/>
                  </a:lnTo>
                  <a:cubicBezTo>
                    <a:pt x="608620" y="694372"/>
                    <a:pt x="601443" y="698500"/>
                    <a:pt x="593680" y="698500"/>
                  </a:cubicBezTo>
                  <a:lnTo>
                    <a:pt x="212356" y="698500"/>
                  </a:lnTo>
                  <a:cubicBezTo>
                    <a:pt x="204593" y="698500"/>
                    <a:pt x="197416" y="694372"/>
                    <a:pt x="193513" y="687663"/>
                  </a:cubicBezTo>
                  <a:lnTo>
                    <a:pt x="2923" y="360087"/>
                  </a:lnTo>
                  <a:cubicBezTo>
                    <a:pt x="-974" y="353388"/>
                    <a:pt x="-974" y="345112"/>
                    <a:pt x="2923" y="338413"/>
                  </a:cubicBezTo>
                  <a:lnTo>
                    <a:pt x="193513" y="10837"/>
                  </a:lnTo>
                  <a:cubicBezTo>
                    <a:pt x="197416" y="4128"/>
                    <a:pt x="204593" y="0"/>
                    <a:pt x="212356" y="0"/>
                  </a:cubicBezTo>
                  <a:lnTo>
                    <a:pt x="593680" y="0"/>
                  </a:lnTo>
                  <a:cubicBezTo>
                    <a:pt x="601443" y="0"/>
                    <a:pt x="608620" y="4128"/>
                    <a:pt x="612523" y="10837"/>
                  </a:cubicBezTo>
                  <a:lnTo>
                    <a:pt x="803113" y="338413"/>
                  </a:lnTo>
                  <a:cubicBezTo>
                    <a:pt x="807010" y="345112"/>
                    <a:pt x="807010" y="353388"/>
                    <a:pt x="803113" y="360087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28918" y="7095469"/>
            <a:ext cx="6104561" cy="3689076"/>
            <a:chOff x="0" y="0"/>
            <a:chExt cx="1607786" cy="9716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7786" cy="971608"/>
            </a:xfrm>
            <a:custGeom>
              <a:avLst/>
              <a:gdLst/>
              <a:ahLst/>
              <a:cxnLst/>
              <a:rect r="r" b="b" t="t" l="l"/>
              <a:pathLst>
                <a:path h="971608" w="1607786">
                  <a:moveTo>
                    <a:pt x="19023" y="0"/>
                  </a:moveTo>
                  <a:lnTo>
                    <a:pt x="1588762" y="0"/>
                  </a:lnTo>
                  <a:cubicBezTo>
                    <a:pt x="1593808" y="0"/>
                    <a:pt x="1598646" y="2004"/>
                    <a:pt x="1602214" y="5572"/>
                  </a:cubicBezTo>
                  <a:cubicBezTo>
                    <a:pt x="1605781" y="9139"/>
                    <a:pt x="1607786" y="13978"/>
                    <a:pt x="1607786" y="19023"/>
                  </a:cubicBezTo>
                  <a:lnTo>
                    <a:pt x="1607786" y="952585"/>
                  </a:lnTo>
                  <a:cubicBezTo>
                    <a:pt x="1607786" y="963091"/>
                    <a:pt x="1599269" y="971608"/>
                    <a:pt x="1588762" y="971608"/>
                  </a:cubicBezTo>
                  <a:lnTo>
                    <a:pt x="19023" y="971608"/>
                  </a:lnTo>
                  <a:cubicBezTo>
                    <a:pt x="13978" y="971608"/>
                    <a:pt x="9139" y="969604"/>
                    <a:pt x="5572" y="966037"/>
                  </a:cubicBezTo>
                  <a:cubicBezTo>
                    <a:pt x="2004" y="962469"/>
                    <a:pt x="0" y="957630"/>
                    <a:pt x="0" y="952585"/>
                  </a:cubicBezTo>
                  <a:lnTo>
                    <a:pt x="0" y="19023"/>
                  </a:lnTo>
                  <a:cubicBezTo>
                    <a:pt x="0" y="13978"/>
                    <a:pt x="2004" y="9139"/>
                    <a:pt x="5572" y="5572"/>
                  </a:cubicBezTo>
                  <a:cubicBezTo>
                    <a:pt x="9139" y="2004"/>
                    <a:pt x="13978" y="0"/>
                    <a:pt x="19023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607786" cy="1028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72551" y="3903939"/>
            <a:ext cx="11960071" cy="6383061"/>
            <a:chOff x="0" y="0"/>
            <a:chExt cx="1308794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619" y="0"/>
              <a:ext cx="1303555" cy="698500"/>
            </a:xfrm>
            <a:custGeom>
              <a:avLst/>
              <a:gdLst/>
              <a:ahLst/>
              <a:cxnLst/>
              <a:rect r="r" b="b" t="t" l="l"/>
              <a:pathLst>
                <a:path h="698500" w="1303555">
                  <a:moveTo>
                    <a:pt x="1301292" y="357643"/>
                  </a:moveTo>
                  <a:lnTo>
                    <a:pt x="1107858" y="690107"/>
                  </a:lnTo>
                  <a:cubicBezTo>
                    <a:pt x="1104834" y="695303"/>
                    <a:pt x="1099276" y="698500"/>
                    <a:pt x="1093265" y="698500"/>
                  </a:cubicBezTo>
                  <a:lnTo>
                    <a:pt x="210291" y="698500"/>
                  </a:lnTo>
                  <a:cubicBezTo>
                    <a:pt x="204279" y="698500"/>
                    <a:pt x="198721" y="695303"/>
                    <a:pt x="195698" y="690107"/>
                  </a:cubicBezTo>
                  <a:lnTo>
                    <a:pt x="2264" y="357643"/>
                  </a:lnTo>
                  <a:cubicBezTo>
                    <a:pt x="-754" y="352455"/>
                    <a:pt x="-754" y="346045"/>
                    <a:pt x="2264" y="340857"/>
                  </a:cubicBezTo>
                  <a:lnTo>
                    <a:pt x="195698" y="8393"/>
                  </a:lnTo>
                  <a:cubicBezTo>
                    <a:pt x="198721" y="3197"/>
                    <a:pt x="204279" y="0"/>
                    <a:pt x="210291" y="0"/>
                  </a:cubicBezTo>
                  <a:lnTo>
                    <a:pt x="1093265" y="0"/>
                  </a:lnTo>
                  <a:cubicBezTo>
                    <a:pt x="1099276" y="0"/>
                    <a:pt x="1104834" y="3197"/>
                    <a:pt x="1107858" y="8393"/>
                  </a:cubicBezTo>
                  <a:lnTo>
                    <a:pt x="1301292" y="340857"/>
                  </a:lnTo>
                  <a:cubicBezTo>
                    <a:pt x="1304310" y="346045"/>
                    <a:pt x="1304310" y="352455"/>
                    <a:pt x="1301292" y="357643"/>
                  </a:cubicBezTo>
                  <a:close/>
                </a:path>
              </a:pathLst>
            </a:custGeom>
            <a:blipFill>
              <a:blip r:embed="rId2"/>
              <a:stretch>
                <a:fillRect l="122" t="-11944" r="122" b="-1194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6966882"/>
            <a:ext cx="1774463" cy="257175"/>
            <a:chOff x="0" y="0"/>
            <a:chExt cx="467348" cy="677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7348" cy="67733"/>
            </a:xfrm>
            <a:custGeom>
              <a:avLst/>
              <a:gdLst/>
              <a:ahLst/>
              <a:cxnLst/>
              <a:rect r="r" b="b" t="t" l="l"/>
              <a:pathLst>
                <a:path h="67733" w="467348">
                  <a:moveTo>
                    <a:pt x="33867" y="0"/>
                  </a:moveTo>
                  <a:lnTo>
                    <a:pt x="433482" y="0"/>
                  </a:lnTo>
                  <a:cubicBezTo>
                    <a:pt x="442464" y="0"/>
                    <a:pt x="451078" y="3568"/>
                    <a:pt x="457429" y="9919"/>
                  </a:cubicBezTo>
                  <a:cubicBezTo>
                    <a:pt x="463780" y="16271"/>
                    <a:pt x="467348" y="24885"/>
                    <a:pt x="467348" y="33867"/>
                  </a:cubicBezTo>
                  <a:lnTo>
                    <a:pt x="467348" y="33867"/>
                  </a:lnTo>
                  <a:cubicBezTo>
                    <a:pt x="467348" y="52571"/>
                    <a:pt x="452186" y="67733"/>
                    <a:pt x="433482" y="67733"/>
                  </a:cubicBezTo>
                  <a:lnTo>
                    <a:pt x="33867" y="67733"/>
                  </a:lnTo>
                  <a:cubicBezTo>
                    <a:pt x="15163" y="67733"/>
                    <a:pt x="0" y="52571"/>
                    <a:pt x="0" y="3386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CEE1">
                    <a:alpha val="100000"/>
                  </a:srgbClr>
                </a:gs>
                <a:gs pos="100000">
                  <a:srgbClr val="006E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67348" cy="12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870470" y="8496300"/>
            <a:ext cx="886690" cy="762000"/>
            <a:chOff x="0" y="0"/>
            <a:chExt cx="812800" cy="698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1776" y="0"/>
              <a:ext cx="789248" cy="698500"/>
            </a:xfrm>
            <a:custGeom>
              <a:avLst/>
              <a:gdLst/>
              <a:ahLst/>
              <a:cxnLst/>
              <a:rect r="r" b="b" t="t" l="l"/>
              <a:pathLst>
                <a:path h="698500" w="789248">
                  <a:moveTo>
                    <a:pt x="779070" y="386984"/>
                  </a:moveTo>
                  <a:lnTo>
                    <a:pt x="619778" y="660766"/>
                  </a:lnTo>
                  <a:cubicBezTo>
                    <a:pt x="606186" y="684128"/>
                    <a:pt x="581196" y="698500"/>
                    <a:pt x="554168" y="698500"/>
                  </a:cubicBezTo>
                  <a:lnTo>
                    <a:pt x="235080" y="698500"/>
                  </a:lnTo>
                  <a:cubicBezTo>
                    <a:pt x="208052" y="698500"/>
                    <a:pt x="183062" y="684128"/>
                    <a:pt x="169470" y="660766"/>
                  </a:cubicBezTo>
                  <a:lnTo>
                    <a:pt x="10178" y="386984"/>
                  </a:lnTo>
                  <a:cubicBezTo>
                    <a:pt x="-3393" y="363658"/>
                    <a:pt x="-3393" y="334842"/>
                    <a:pt x="10178" y="311516"/>
                  </a:cubicBezTo>
                  <a:lnTo>
                    <a:pt x="169470" y="37734"/>
                  </a:lnTo>
                  <a:cubicBezTo>
                    <a:pt x="183062" y="14372"/>
                    <a:pt x="208052" y="0"/>
                    <a:pt x="235080" y="0"/>
                  </a:cubicBezTo>
                  <a:lnTo>
                    <a:pt x="554168" y="0"/>
                  </a:lnTo>
                  <a:cubicBezTo>
                    <a:pt x="581196" y="0"/>
                    <a:pt x="606186" y="14372"/>
                    <a:pt x="619778" y="37734"/>
                  </a:cubicBezTo>
                  <a:lnTo>
                    <a:pt x="779070" y="311516"/>
                  </a:lnTo>
                  <a:cubicBezTo>
                    <a:pt x="792641" y="334842"/>
                    <a:pt x="792641" y="363658"/>
                    <a:pt x="779070" y="386984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solidFill>
                <a:srgbClr val="F9F9F9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2288032" y="-4843994"/>
            <a:ext cx="9262129" cy="7959642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3382" y="0"/>
              <a:ext cx="806036" cy="698500"/>
            </a:xfrm>
            <a:custGeom>
              <a:avLst/>
              <a:gdLst/>
              <a:ahLst/>
              <a:cxnLst/>
              <a:rect r="r" b="b" t="t" l="l"/>
              <a:pathLst>
                <a:path h="698500" w="806036">
                  <a:moveTo>
                    <a:pt x="803113" y="360087"/>
                  </a:moveTo>
                  <a:lnTo>
                    <a:pt x="612523" y="687663"/>
                  </a:lnTo>
                  <a:cubicBezTo>
                    <a:pt x="608620" y="694372"/>
                    <a:pt x="601443" y="698500"/>
                    <a:pt x="593680" y="698500"/>
                  </a:cubicBezTo>
                  <a:lnTo>
                    <a:pt x="212356" y="698500"/>
                  </a:lnTo>
                  <a:cubicBezTo>
                    <a:pt x="204593" y="698500"/>
                    <a:pt x="197416" y="694372"/>
                    <a:pt x="193513" y="687663"/>
                  </a:cubicBezTo>
                  <a:lnTo>
                    <a:pt x="2923" y="360087"/>
                  </a:lnTo>
                  <a:cubicBezTo>
                    <a:pt x="-974" y="353388"/>
                    <a:pt x="-974" y="345112"/>
                    <a:pt x="2923" y="338413"/>
                  </a:cubicBezTo>
                  <a:lnTo>
                    <a:pt x="193513" y="10837"/>
                  </a:lnTo>
                  <a:cubicBezTo>
                    <a:pt x="197416" y="4128"/>
                    <a:pt x="204593" y="0"/>
                    <a:pt x="212356" y="0"/>
                  </a:cubicBezTo>
                  <a:lnTo>
                    <a:pt x="593680" y="0"/>
                  </a:lnTo>
                  <a:cubicBezTo>
                    <a:pt x="601443" y="0"/>
                    <a:pt x="608620" y="4128"/>
                    <a:pt x="612523" y="10837"/>
                  </a:cubicBezTo>
                  <a:lnTo>
                    <a:pt x="803113" y="338413"/>
                  </a:lnTo>
                  <a:cubicBezTo>
                    <a:pt x="807010" y="345112"/>
                    <a:pt x="807010" y="353388"/>
                    <a:pt x="803113" y="360087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94412" y="562791"/>
            <a:ext cx="18173386" cy="455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30"/>
              </a:lnSpc>
            </a:pPr>
            <a:r>
              <a:rPr lang="en-US" sz="11830" spc="-887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FALIURE OF ALOHA                 AIRLINES FLIGHT  243</a:t>
            </a:r>
          </a:p>
          <a:p>
            <a:pPr algn="l">
              <a:lnSpc>
                <a:spcPts val="1183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40120" y="7569198"/>
            <a:ext cx="5126087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Shahd Elsanet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4609" y="8782050"/>
            <a:ext cx="4337507" cy="927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Case Study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13106" y="6761492"/>
            <a:ext cx="8664171" cy="4023053"/>
            <a:chOff x="0" y="0"/>
            <a:chExt cx="2281922" cy="10595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1922" cy="1059570"/>
            </a:xfrm>
            <a:custGeom>
              <a:avLst/>
              <a:gdLst/>
              <a:ahLst/>
              <a:cxnLst/>
              <a:rect r="r" b="b" t="t" l="l"/>
              <a:pathLst>
                <a:path h="1059570" w="2281922">
                  <a:moveTo>
                    <a:pt x="13403" y="0"/>
                  </a:moveTo>
                  <a:lnTo>
                    <a:pt x="2268518" y="0"/>
                  </a:lnTo>
                  <a:cubicBezTo>
                    <a:pt x="2272073" y="0"/>
                    <a:pt x="2275482" y="1412"/>
                    <a:pt x="2277996" y="3926"/>
                  </a:cubicBezTo>
                  <a:cubicBezTo>
                    <a:pt x="2280509" y="6439"/>
                    <a:pt x="2281922" y="9849"/>
                    <a:pt x="2281922" y="13403"/>
                  </a:cubicBezTo>
                  <a:lnTo>
                    <a:pt x="2281922" y="1046166"/>
                  </a:lnTo>
                  <a:cubicBezTo>
                    <a:pt x="2281922" y="1053569"/>
                    <a:pt x="2275921" y="1059570"/>
                    <a:pt x="2268518" y="1059570"/>
                  </a:cubicBezTo>
                  <a:lnTo>
                    <a:pt x="13403" y="1059570"/>
                  </a:lnTo>
                  <a:cubicBezTo>
                    <a:pt x="6001" y="1059570"/>
                    <a:pt x="0" y="1053569"/>
                    <a:pt x="0" y="1046166"/>
                  </a:cubicBezTo>
                  <a:lnTo>
                    <a:pt x="0" y="13403"/>
                  </a:lnTo>
                  <a:cubicBezTo>
                    <a:pt x="0" y="6001"/>
                    <a:pt x="6001" y="0"/>
                    <a:pt x="13403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281922" cy="11167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57199" y="6632905"/>
            <a:ext cx="1774463" cy="257175"/>
            <a:chOff x="0" y="0"/>
            <a:chExt cx="467348" cy="677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348" cy="67733"/>
            </a:xfrm>
            <a:custGeom>
              <a:avLst/>
              <a:gdLst/>
              <a:ahLst/>
              <a:cxnLst/>
              <a:rect r="r" b="b" t="t" l="l"/>
              <a:pathLst>
                <a:path h="67733" w="467348">
                  <a:moveTo>
                    <a:pt x="33867" y="0"/>
                  </a:moveTo>
                  <a:lnTo>
                    <a:pt x="433482" y="0"/>
                  </a:lnTo>
                  <a:cubicBezTo>
                    <a:pt x="442464" y="0"/>
                    <a:pt x="451078" y="3568"/>
                    <a:pt x="457429" y="9919"/>
                  </a:cubicBezTo>
                  <a:cubicBezTo>
                    <a:pt x="463780" y="16271"/>
                    <a:pt x="467348" y="24885"/>
                    <a:pt x="467348" y="33867"/>
                  </a:cubicBezTo>
                  <a:lnTo>
                    <a:pt x="467348" y="33867"/>
                  </a:lnTo>
                  <a:cubicBezTo>
                    <a:pt x="467348" y="52571"/>
                    <a:pt x="452186" y="67733"/>
                    <a:pt x="433482" y="67733"/>
                  </a:cubicBezTo>
                  <a:lnTo>
                    <a:pt x="33867" y="67733"/>
                  </a:lnTo>
                  <a:cubicBezTo>
                    <a:pt x="15163" y="67733"/>
                    <a:pt x="0" y="52571"/>
                    <a:pt x="0" y="3386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CEE1">
                    <a:alpha val="100000"/>
                  </a:srgbClr>
                </a:gs>
                <a:gs pos="100000">
                  <a:srgbClr val="006E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7348" cy="12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095441" y="1116169"/>
            <a:ext cx="11041539" cy="136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86"/>
              </a:lnSpc>
            </a:pPr>
            <a:r>
              <a:rPr lang="en-US" b="true" sz="10186" spc="-764">
                <a:solidFill>
                  <a:srgbClr val="F9F9F9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608246"/>
            <a:ext cx="16230600" cy="675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3891" indent="-516946" lvl="1">
              <a:lnSpc>
                <a:spcPts val="6704"/>
              </a:lnSpc>
              <a:buFont typeface="Arial"/>
              <a:buChar char="•"/>
            </a:pPr>
            <a:r>
              <a:rPr lang="en-US" sz="478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How can a normal flight turn into a disaster in seconds?</a:t>
            </a:r>
          </a:p>
          <a:p>
            <a:pPr algn="l" marL="1033891" indent="-516946" lvl="1">
              <a:lnSpc>
                <a:spcPts val="6704"/>
              </a:lnSpc>
              <a:buFont typeface="Arial"/>
              <a:buChar char="•"/>
            </a:pPr>
            <a:r>
              <a:rPr lang="en-US" sz="478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Aloha Airlines Flight 243 started as a routine flight</a:t>
            </a:r>
          </a:p>
          <a:p>
            <a:pPr algn="l" marL="1033891" indent="-516946" lvl="1">
              <a:lnSpc>
                <a:spcPts val="6704"/>
              </a:lnSpc>
              <a:buFont typeface="Arial"/>
              <a:buChar char="•"/>
            </a:pPr>
            <a:r>
              <a:rPr lang="en-US" sz="478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Suddenly, a serious structural failure occurred</a:t>
            </a:r>
          </a:p>
          <a:p>
            <a:pPr algn="l" marL="1033891" indent="-516946" lvl="1">
              <a:lnSpc>
                <a:spcPts val="6704"/>
              </a:lnSpc>
              <a:buFont typeface="Arial"/>
              <a:buChar char="•"/>
            </a:pPr>
            <a:r>
              <a:rPr lang="en-US" sz="478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This caused injuries and loss of life</a:t>
            </a:r>
          </a:p>
          <a:p>
            <a:pPr algn="l" marL="1033891" indent="-516946" lvl="1">
              <a:lnSpc>
                <a:spcPts val="6704"/>
              </a:lnSpc>
              <a:buFont typeface="Arial"/>
              <a:buChar char="•"/>
            </a:pPr>
            <a:r>
              <a:rPr lang="en-US" sz="478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In this case study, we will analyze the failure, its causes, and how it was investigated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88032" y="-4843994"/>
            <a:ext cx="9262129" cy="7959642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82" y="0"/>
              <a:ext cx="806036" cy="698500"/>
            </a:xfrm>
            <a:custGeom>
              <a:avLst/>
              <a:gdLst/>
              <a:ahLst/>
              <a:cxnLst/>
              <a:rect r="r" b="b" t="t" l="l"/>
              <a:pathLst>
                <a:path h="698500" w="806036">
                  <a:moveTo>
                    <a:pt x="803113" y="360087"/>
                  </a:moveTo>
                  <a:lnTo>
                    <a:pt x="612523" y="687663"/>
                  </a:lnTo>
                  <a:cubicBezTo>
                    <a:pt x="608620" y="694372"/>
                    <a:pt x="601443" y="698500"/>
                    <a:pt x="593680" y="698500"/>
                  </a:cubicBezTo>
                  <a:lnTo>
                    <a:pt x="212356" y="698500"/>
                  </a:lnTo>
                  <a:cubicBezTo>
                    <a:pt x="204593" y="698500"/>
                    <a:pt x="197416" y="694372"/>
                    <a:pt x="193513" y="687663"/>
                  </a:cubicBezTo>
                  <a:lnTo>
                    <a:pt x="2923" y="360087"/>
                  </a:lnTo>
                  <a:cubicBezTo>
                    <a:pt x="-974" y="353388"/>
                    <a:pt x="-974" y="345112"/>
                    <a:pt x="2923" y="338413"/>
                  </a:cubicBezTo>
                  <a:lnTo>
                    <a:pt x="193513" y="10837"/>
                  </a:lnTo>
                  <a:cubicBezTo>
                    <a:pt x="197416" y="4128"/>
                    <a:pt x="204593" y="0"/>
                    <a:pt x="212356" y="0"/>
                  </a:cubicBezTo>
                  <a:lnTo>
                    <a:pt x="593680" y="0"/>
                  </a:lnTo>
                  <a:cubicBezTo>
                    <a:pt x="601443" y="0"/>
                    <a:pt x="608620" y="4128"/>
                    <a:pt x="612523" y="10837"/>
                  </a:cubicBezTo>
                  <a:lnTo>
                    <a:pt x="803113" y="338413"/>
                  </a:lnTo>
                  <a:cubicBezTo>
                    <a:pt x="807010" y="345112"/>
                    <a:pt x="807010" y="353388"/>
                    <a:pt x="803113" y="360087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27097" y="5767781"/>
            <a:ext cx="12332203" cy="5016764"/>
            <a:chOff x="0" y="0"/>
            <a:chExt cx="3247988" cy="1321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7988" cy="1321288"/>
            </a:xfrm>
            <a:custGeom>
              <a:avLst/>
              <a:gdLst/>
              <a:ahLst/>
              <a:cxnLst/>
              <a:rect r="r" b="b" t="t" l="l"/>
              <a:pathLst>
                <a:path h="1321288" w="3247988">
                  <a:moveTo>
                    <a:pt x="9417" y="0"/>
                  </a:moveTo>
                  <a:lnTo>
                    <a:pt x="3238571" y="0"/>
                  </a:lnTo>
                  <a:cubicBezTo>
                    <a:pt x="3243772" y="0"/>
                    <a:pt x="3247988" y="4216"/>
                    <a:pt x="3247988" y="9417"/>
                  </a:cubicBezTo>
                  <a:lnTo>
                    <a:pt x="3247988" y="1311871"/>
                  </a:lnTo>
                  <a:cubicBezTo>
                    <a:pt x="3247988" y="1317072"/>
                    <a:pt x="3243772" y="1321288"/>
                    <a:pt x="3238571" y="1321288"/>
                  </a:cubicBezTo>
                  <a:lnTo>
                    <a:pt x="9417" y="1321288"/>
                  </a:lnTo>
                  <a:cubicBezTo>
                    <a:pt x="6919" y="1321288"/>
                    <a:pt x="4524" y="1320295"/>
                    <a:pt x="2758" y="1318529"/>
                  </a:cubicBezTo>
                  <a:cubicBezTo>
                    <a:pt x="992" y="1316764"/>
                    <a:pt x="0" y="1314368"/>
                    <a:pt x="0" y="1311871"/>
                  </a:cubicBezTo>
                  <a:lnTo>
                    <a:pt x="0" y="9417"/>
                  </a:lnTo>
                  <a:cubicBezTo>
                    <a:pt x="0" y="4216"/>
                    <a:pt x="4216" y="0"/>
                    <a:pt x="9417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247988" cy="13784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01400" y="2277263"/>
            <a:ext cx="8123389" cy="6981037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56" y="0"/>
              <a:ext cx="805088" cy="698500"/>
            </a:xfrm>
            <a:custGeom>
              <a:avLst/>
              <a:gdLst/>
              <a:ahLst/>
              <a:cxnLst/>
              <a:rect r="r" b="b" t="t" l="l"/>
              <a:pathLst>
                <a:path h="698500" w="805088">
                  <a:moveTo>
                    <a:pt x="801755" y="361606"/>
                  </a:moveTo>
                  <a:lnTo>
                    <a:pt x="612933" y="686144"/>
                  </a:lnTo>
                  <a:cubicBezTo>
                    <a:pt x="608482" y="693794"/>
                    <a:pt x="600299" y="698500"/>
                    <a:pt x="591448" y="698500"/>
                  </a:cubicBezTo>
                  <a:lnTo>
                    <a:pt x="213640" y="698500"/>
                  </a:lnTo>
                  <a:cubicBezTo>
                    <a:pt x="204789" y="698500"/>
                    <a:pt x="196606" y="693794"/>
                    <a:pt x="192155" y="686144"/>
                  </a:cubicBezTo>
                  <a:lnTo>
                    <a:pt x="3333" y="361606"/>
                  </a:lnTo>
                  <a:cubicBezTo>
                    <a:pt x="-1111" y="353968"/>
                    <a:pt x="-1111" y="344532"/>
                    <a:pt x="3333" y="336894"/>
                  </a:cubicBezTo>
                  <a:lnTo>
                    <a:pt x="192155" y="12356"/>
                  </a:lnTo>
                  <a:cubicBezTo>
                    <a:pt x="196606" y="4706"/>
                    <a:pt x="204789" y="0"/>
                    <a:pt x="213640" y="0"/>
                  </a:cubicBezTo>
                  <a:lnTo>
                    <a:pt x="591448" y="0"/>
                  </a:lnTo>
                  <a:cubicBezTo>
                    <a:pt x="600299" y="0"/>
                    <a:pt x="608482" y="4706"/>
                    <a:pt x="612933" y="12356"/>
                  </a:cubicBezTo>
                  <a:lnTo>
                    <a:pt x="801755" y="336894"/>
                  </a:lnTo>
                  <a:cubicBezTo>
                    <a:pt x="806199" y="344532"/>
                    <a:pt x="806199" y="353968"/>
                    <a:pt x="801755" y="361606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43405" y="5639194"/>
            <a:ext cx="1774463" cy="257175"/>
            <a:chOff x="0" y="0"/>
            <a:chExt cx="467348" cy="677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348" cy="67733"/>
            </a:xfrm>
            <a:custGeom>
              <a:avLst/>
              <a:gdLst/>
              <a:ahLst/>
              <a:cxnLst/>
              <a:rect r="r" b="b" t="t" l="l"/>
              <a:pathLst>
                <a:path h="67733" w="467348">
                  <a:moveTo>
                    <a:pt x="33867" y="0"/>
                  </a:moveTo>
                  <a:lnTo>
                    <a:pt x="433482" y="0"/>
                  </a:lnTo>
                  <a:cubicBezTo>
                    <a:pt x="442464" y="0"/>
                    <a:pt x="451078" y="3568"/>
                    <a:pt x="457429" y="9919"/>
                  </a:cubicBezTo>
                  <a:cubicBezTo>
                    <a:pt x="463780" y="16271"/>
                    <a:pt x="467348" y="24885"/>
                    <a:pt x="467348" y="33867"/>
                  </a:cubicBezTo>
                  <a:lnTo>
                    <a:pt x="467348" y="33867"/>
                  </a:lnTo>
                  <a:cubicBezTo>
                    <a:pt x="467348" y="52571"/>
                    <a:pt x="452186" y="67733"/>
                    <a:pt x="433482" y="67733"/>
                  </a:cubicBezTo>
                  <a:lnTo>
                    <a:pt x="33867" y="67733"/>
                  </a:lnTo>
                  <a:cubicBezTo>
                    <a:pt x="15163" y="67733"/>
                    <a:pt x="0" y="52571"/>
                    <a:pt x="0" y="3386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CEE1">
                    <a:alpha val="100000"/>
                  </a:srgbClr>
                </a:gs>
                <a:gs pos="100000">
                  <a:srgbClr val="006E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67348" cy="12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36917" y="1896263"/>
            <a:ext cx="886690" cy="762000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1776" y="0"/>
              <a:ext cx="789248" cy="698500"/>
            </a:xfrm>
            <a:custGeom>
              <a:avLst/>
              <a:gdLst/>
              <a:ahLst/>
              <a:cxnLst/>
              <a:rect r="r" b="b" t="t" l="l"/>
              <a:pathLst>
                <a:path h="698500" w="789248">
                  <a:moveTo>
                    <a:pt x="779070" y="386984"/>
                  </a:moveTo>
                  <a:lnTo>
                    <a:pt x="619778" y="660766"/>
                  </a:lnTo>
                  <a:cubicBezTo>
                    <a:pt x="606186" y="684128"/>
                    <a:pt x="581196" y="698500"/>
                    <a:pt x="554168" y="698500"/>
                  </a:cubicBezTo>
                  <a:lnTo>
                    <a:pt x="235080" y="698500"/>
                  </a:lnTo>
                  <a:cubicBezTo>
                    <a:pt x="208052" y="698500"/>
                    <a:pt x="183062" y="684128"/>
                    <a:pt x="169470" y="660766"/>
                  </a:cubicBezTo>
                  <a:lnTo>
                    <a:pt x="10178" y="386984"/>
                  </a:lnTo>
                  <a:cubicBezTo>
                    <a:pt x="-3393" y="363658"/>
                    <a:pt x="-3393" y="334842"/>
                    <a:pt x="10178" y="311516"/>
                  </a:cubicBezTo>
                  <a:lnTo>
                    <a:pt x="169470" y="37734"/>
                  </a:lnTo>
                  <a:cubicBezTo>
                    <a:pt x="183062" y="14372"/>
                    <a:pt x="208052" y="0"/>
                    <a:pt x="235080" y="0"/>
                  </a:cubicBezTo>
                  <a:lnTo>
                    <a:pt x="554168" y="0"/>
                  </a:lnTo>
                  <a:cubicBezTo>
                    <a:pt x="581196" y="0"/>
                    <a:pt x="606186" y="14372"/>
                    <a:pt x="619778" y="37734"/>
                  </a:cubicBezTo>
                  <a:lnTo>
                    <a:pt x="779070" y="311516"/>
                  </a:lnTo>
                  <a:cubicBezTo>
                    <a:pt x="792641" y="334842"/>
                    <a:pt x="792641" y="363658"/>
                    <a:pt x="779070" y="386984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solidFill>
                <a:srgbClr val="F9F9F9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3371" y="246607"/>
            <a:ext cx="16220001" cy="970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1891" indent="-395945" lvl="1">
              <a:lnSpc>
                <a:spcPts val="5135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On April 28, 1988, Aloha Airlines Flight 243 was operating a routine passenger flight in Hawaii from Hilo to Honolulu.   </a:t>
            </a:r>
          </a:p>
          <a:p>
            <a:pPr algn="l">
              <a:lnSpc>
                <a:spcPts val="5135"/>
              </a:lnSpc>
            </a:pPr>
          </a:p>
          <a:p>
            <a:pPr algn="l" marL="791891" indent="-395945" lvl="1">
              <a:lnSpc>
                <a:spcPts val="5135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At cruising altitude, a structural failure occurred when a large section of the upper fuselage (the cabin roof) suddenly ripped off.</a:t>
            </a:r>
          </a:p>
          <a:p>
            <a:pPr algn="l">
              <a:lnSpc>
                <a:spcPts val="5135"/>
              </a:lnSpc>
            </a:pPr>
          </a:p>
          <a:p>
            <a:pPr algn="l" marL="791891" indent="-395945" lvl="1">
              <a:lnSpc>
                <a:spcPts val="5135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This caused explosive decompression and severe damage to the aircraft’s structure.</a:t>
            </a:r>
          </a:p>
          <a:p>
            <a:pPr algn="l">
              <a:lnSpc>
                <a:spcPts val="5135"/>
              </a:lnSpc>
            </a:pPr>
          </a:p>
          <a:p>
            <a:pPr algn="l" marL="791891" indent="-395945" lvl="1">
              <a:lnSpc>
                <a:spcPts val="5135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One flight attendant was ejected from the aircraft and killed, and several passengers and crew were injured.</a:t>
            </a:r>
          </a:p>
          <a:p>
            <a:pPr algn="l">
              <a:lnSpc>
                <a:spcPts val="5135"/>
              </a:lnSpc>
            </a:pPr>
          </a:p>
          <a:p>
            <a:pPr algn="l" marL="791891" indent="-395945" lvl="1">
              <a:lnSpc>
                <a:spcPts val="5135"/>
              </a:lnSpc>
              <a:buFont typeface="Arial"/>
              <a:buChar char="•"/>
            </a:pPr>
            <a:r>
              <a:rPr lang="en-US" sz="3667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 pilots performed an emergency descent and diverted to Kahului Airport, where the aircraft landed safely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6123" r="0" b="6123"/>
          <a:stretch>
            <a:fillRect/>
          </a:stretch>
        </p:blipFill>
        <p:spPr>
          <a:xfrm flipH="false" flipV="false" rot="0">
            <a:off x="6174984" y="0"/>
            <a:ext cx="6612731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52758" y="-5956466"/>
            <a:ext cx="8725967" cy="7498878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590" y="0"/>
              <a:ext cx="805620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20">
                  <a:moveTo>
                    <a:pt x="802517" y="360753"/>
                  </a:moveTo>
                  <a:lnTo>
                    <a:pt x="612703" y="686997"/>
                  </a:lnTo>
                  <a:cubicBezTo>
                    <a:pt x="608559" y="694119"/>
                    <a:pt x="600941" y="698500"/>
                    <a:pt x="592702" y="698500"/>
                  </a:cubicBezTo>
                  <a:lnTo>
                    <a:pt x="212918" y="698500"/>
                  </a:lnTo>
                  <a:cubicBezTo>
                    <a:pt x="204679" y="698500"/>
                    <a:pt x="197061" y="694119"/>
                    <a:pt x="192917" y="686997"/>
                  </a:cubicBezTo>
                  <a:lnTo>
                    <a:pt x="3103" y="360753"/>
                  </a:lnTo>
                  <a:cubicBezTo>
                    <a:pt x="-1034" y="353642"/>
                    <a:pt x="-1034" y="344858"/>
                    <a:pt x="3103" y="337747"/>
                  </a:cubicBezTo>
                  <a:lnTo>
                    <a:pt x="192917" y="11503"/>
                  </a:lnTo>
                  <a:cubicBezTo>
                    <a:pt x="197061" y="4381"/>
                    <a:pt x="204679" y="0"/>
                    <a:pt x="212918" y="0"/>
                  </a:cubicBezTo>
                  <a:lnTo>
                    <a:pt x="592702" y="0"/>
                  </a:lnTo>
                  <a:cubicBezTo>
                    <a:pt x="600941" y="0"/>
                    <a:pt x="608559" y="4381"/>
                    <a:pt x="612703" y="11503"/>
                  </a:cubicBezTo>
                  <a:lnTo>
                    <a:pt x="802517" y="337747"/>
                  </a:lnTo>
                  <a:cubicBezTo>
                    <a:pt x="806654" y="344858"/>
                    <a:pt x="806654" y="353642"/>
                    <a:pt x="802517" y="360753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984467" y="2699319"/>
            <a:ext cx="10026334" cy="8616381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24" y="0"/>
              <a:ext cx="806552" cy="698500"/>
            </a:xfrm>
            <a:custGeom>
              <a:avLst/>
              <a:gdLst/>
              <a:ahLst/>
              <a:cxnLst/>
              <a:rect r="r" b="b" t="t" l="l"/>
              <a:pathLst>
                <a:path h="698500" w="806552">
                  <a:moveTo>
                    <a:pt x="803851" y="359261"/>
                  </a:moveTo>
                  <a:lnTo>
                    <a:pt x="612301" y="688489"/>
                  </a:lnTo>
                  <a:cubicBezTo>
                    <a:pt x="608695" y="694687"/>
                    <a:pt x="602065" y="698500"/>
                    <a:pt x="594894" y="698500"/>
                  </a:cubicBezTo>
                  <a:lnTo>
                    <a:pt x="211658" y="698500"/>
                  </a:lnTo>
                  <a:cubicBezTo>
                    <a:pt x="204487" y="698500"/>
                    <a:pt x="197857" y="694687"/>
                    <a:pt x="194251" y="688489"/>
                  </a:cubicBezTo>
                  <a:lnTo>
                    <a:pt x="2701" y="359261"/>
                  </a:lnTo>
                  <a:cubicBezTo>
                    <a:pt x="-900" y="353073"/>
                    <a:pt x="-900" y="345427"/>
                    <a:pt x="2701" y="339239"/>
                  </a:cubicBezTo>
                  <a:lnTo>
                    <a:pt x="194251" y="10011"/>
                  </a:lnTo>
                  <a:cubicBezTo>
                    <a:pt x="197857" y="3813"/>
                    <a:pt x="204487" y="0"/>
                    <a:pt x="211658" y="0"/>
                  </a:cubicBezTo>
                  <a:lnTo>
                    <a:pt x="594894" y="0"/>
                  </a:lnTo>
                  <a:cubicBezTo>
                    <a:pt x="602065" y="0"/>
                    <a:pt x="608695" y="3813"/>
                    <a:pt x="612301" y="10011"/>
                  </a:cubicBezTo>
                  <a:lnTo>
                    <a:pt x="803851" y="339239"/>
                  </a:lnTo>
                  <a:cubicBezTo>
                    <a:pt x="807452" y="345427"/>
                    <a:pt x="807452" y="353073"/>
                    <a:pt x="803851" y="359261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8790" y="7500517"/>
            <a:ext cx="12332203" cy="4351294"/>
            <a:chOff x="0" y="0"/>
            <a:chExt cx="3247988" cy="11460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47988" cy="1146020"/>
            </a:xfrm>
            <a:custGeom>
              <a:avLst/>
              <a:gdLst/>
              <a:ahLst/>
              <a:cxnLst/>
              <a:rect r="r" b="b" t="t" l="l"/>
              <a:pathLst>
                <a:path h="1146020" w="3247988">
                  <a:moveTo>
                    <a:pt x="9417" y="0"/>
                  </a:moveTo>
                  <a:lnTo>
                    <a:pt x="3238571" y="0"/>
                  </a:lnTo>
                  <a:cubicBezTo>
                    <a:pt x="3243772" y="0"/>
                    <a:pt x="3247988" y="4216"/>
                    <a:pt x="3247988" y="9417"/>
                  </a:cubicBezTo>
                  <a:lnTo>
                    <a:pt x="3247988" y="1136603"/>
                  </a:lnTo>
                  <a:cubicBezTo>
                    <a:pt x="3247988" y="1139101"/>
                    <a:pt x="3246995" y="1141496"/>
                    <a:pt x="3245229" y="1143262"/>
                  </a:cubicBezTo>
                  <a:cubicBezTo>
                    <a:pt x="3243463" y="1145028"/>
                    <a:pt x="3241068" y="1146020"/>
                    <a:pt x="3238571" y="1146020"/>
                  </a:cubicBezTo>
                  <a:lnTo>
                    <a:pt x="9417" y="1146020"/>
                  </a:lnTo>
                  <a:cubicBezTo>
                    <a:pt x="4216" y="1146020"/>
                    <a:pt x="0" y="1141804"/>
                    <a:pt x="0" y="1136603"/>
                  </a:cubicBezTo>
                  <a:lnTo>
                    <a:pt x="0" y="9417"/>
                  </a:lnTo>
                  <a:cubicBezTo>
                    <a:pt x="0" y="4216"/>
                    <a:pt x="4216" y="0"/>
                    <a:pt x="9417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247988" cy="1203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775261" y="6304663"/>
            <a:ext cx="1774463" cy="257175"/>
            <a:chOff x="0" y="0"/>
            <a:chExt cx="467348" cy="677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67348" cy="67733"/>
            </a:xfrm>
            <a:custGeom>
              <a:avLst/>
              <a:gdLst/>
              <a:ahLst/>
              <a:cxnLst/>
              <a:rect r="r" b="b" t="t" l="l"/>
              <a:pathLst>
                <a:path h="67733" w="467348">
                  <a:moveTo>
                    <a:pt x="33867" y="0"/>
                  </a:moveTo>
                  <a:lnTo>
                    <a:pt x="433482" y="0"/>
                  </a:lnTo>
                  <a:cubicBezTo>
                    <a:pt x="442464" y="0"/>
                    <a:pt x="451078" y="3568"/>
                    <a:pt x="457429" y="9919"/>
                  </a:cubicBezTo>
                  <a:cubicBezTo>
                    <a:pt x="463780" y="16271"/>
                    <a:pt x="467348" y="24885"/>
                    <a:pt x="467348" y="33867"/>
                  </a:cubicBezTo>
                  <a:lnTo>
                    <a:pt x="467348" y="33867"/>
                  </a:lnTo>
                  <a:cubicBezTo>
                    <a:pt x="467348" y="52571"/>
                    <a:pt x="452186" y="67733"/>
                    <a:pt x="433482" y="67733"/>
                  </a:cubicBezTo>
                  <a:lnTo>
                    <a:pt x="33867" y="67733"/>
                  </a:lnTo>
                  <a:cubicBezTo>
                    <a:pt x="15163" y="67733"/>
                    <a:pt x="0" y="52571"/>
                    <a:pt x="0" y="3386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CEE1">
                    <a:alpha val="100000"/>
                  </a:srgbClr>
                </a:gs>
                <a:gs pos="100000">
                  <a:srgbClr val="006E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67348" cy="12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63300" y="610865"/>
            <a:ext cx="16561399" cy="168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59"/>
              </a:lnSpc>
            </a:pPr>
            <a:r>
              <a:rPr lang="en-US" sz="98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Faliure Analysis Methods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114" y="2355657"/>
            <a:ext cx="17424700" cy="672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 investigators used several methods to analyze the failure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3300" y="3478729"/>
            <a:ext cx="16118547" cy="5566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3829" indent="-416914" lvl="1">
              <a:lnSpc>
                <a:spcPts val="5406"/>
              </a:lnSpc>
              <a:buAutoNum type="arabicPeriod" startAt="1"/>
            </a:pPr>
            <a:r>
              <a:rPr lang="en-US" sz="386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they performed a visual inspection to identify the damaged areas. </a:t>
            </a:r>
          </a:p>
          <a:p>
            <a:pPr algn="l" marL="833829" indent="-416914" lvl="1">
              <a:lnSpc>
                <a:spcPts val="5406"/>
              </a:lnSpc>
              <a:buAutoNum type="arabicPeriod" startAt="1"/>
            </a:pPr>
            <a:r>
              <a:rPr lang="en-US" sz="386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fractographic analysis was used to study crack patterns.</a:t>
            </a:r>
          </a:p>
          <a:p>
            <a:pPr algn="l" marL="833829" indent="-416914" lvl="1">
              <a:lnSpc>
                <a:spcPts val="5406"/>
              </a:lnSpc>
              <a:buAutoNum type="arabicPeriod" startAt="1"/>
            </a:pPr>
            <a:r>
              <a:rPr lang="en-US" sz="386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SEM helped to examine the fracture surface in detail,.</a:t>
            </a:r>
          </a:p>
          <a:p>
            <a:pPr algn="l" marL="833829" indent="-416914" lvl="1">
              <a:lnSpc>
                <a:spcPts val="5406"/>
              </a:lnSpc>
              <a:buAutoNum type="arabicPeriod" startAt="1"/>
            </a:pPr>
            <a:r>
              <a:rPr lang="en-US" sz="3862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while EDS was used to detect corrosion and material composition.</a:t>
            </a:r>
          </a:p>
          <a:p>
            <a:pPr algn="l" marL="903856" indent="-451928" lvl="1">
              <a:lnSpc>
                <a:spcPts val="5861"/>
              </a:lnSpc>
              <a:buAutoNum type="arabicPeriod" startAt="1"/>
            </a:pPr>
            <a:r>
              <a:rPr lang="en-US" sz="418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They also reviewed maintenance records to understand possible human or procedural errors.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46689" y="-3028658"/>
            <a:ext cx="7333333" cy="6302083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72" y="0"/>
              <a:ext cx="8042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4257">
                  <a:moveTo>
                    <a:pt x="800564" y="362938"/>
                  </a:moveTo>
                  <a:lnTo>
                    <a:pt x="613292" y="684812"/>
                  </a:lnTo>
                  <a:cubicBezTo>
                    <a:pt x="608361" y="693287"/>
                    <a:pt x="599296" y="698500"/>
                    <a:pt x="589492" y="698500"/>
                  </a:cubicBezTo>
                  <a:lnTo>
                    <a:pt x="214764" y="698500"/>
                  </a:lnTo>
                  <a:cubicBezTo>
                    <a:pt x="204959" y="698500"/>
                    <a:pt x="195895" y="693287"/>
                    <a:pt x="190964" y="684812"/>
                  </a:cubicBezTo>
                  <a:lnTo>
                    <a:pt x="3692" y="362938"/>
                  </a:lnTo>
                  <a:cubicBezTo>
                    <a:pt x="-1231" y="354476"/>
                    <a:pt x="-1231" y="344024"/>
                    <a:pt x="3692" y="335562"/>
                  </a:cubicBezTo>
                  <a:lnTo>
                    <a:pt x="190964" y="13688"/>
                  </a:lnTo>
                  <a:cubicBezTo>
                    <a:pt x="195895" y="5213"/>
                    <a:pt x="204959" y="0"/>
                    <a:pt x="214764" y="0"/>
                  </a:cubicBezTo>
                  <a:lnTo>
                    <a:pt x="589492" y="0"/>
                  </a:lnTo>
                  <a:cubicBezTo>
                    <a:pt x="599296" y="0"/>
                    <a:pt x="608361" y="5213"/>
                    <a:pt x="613292" y="13688"/>
                  </a:cubicBezTo>
                  <a:lnTo>
                    <a:pt x="800564" y="335562"/>
                  </a:lnTo>
                  <a:cubicBezTo>
                    <a:pt x="805487" y="344024"/>
                    <a:pt x="805487" y="354476"/>
                    <a:pt x="800564" y="362938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27999" y="-2122341"/>
            <a:ext cx="7333333" cy="6302083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72" y="0"/>
              <a:ext cx="8042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4257">
                  <a:moveTo>
                    <a:pt x="800564" y="362938"/>
                  </a:moveTo>
                  <a:lnTo>
                    <a:pt x="613292" y="684812"/>
                  </a:lnTo>
                  <a:cubicBezTo>
                    <a:pt x="608361" y="693287"/>
                    <a:pt x="599296" y="698500"/>
                    <a:pt x="589492" y="698500"/>
                  </a:cubicBezTo>
                  <a:lnTo>
                    <a:pt x="214764" y="698500"/>
                  </a:lnTo>
                  <a:cubicBezTo>
                    <a:pt x="204959" y="698500"/>
                    <a:pt x="195895" y="693287"/>
                    <a:pt x="190964" y="684812"/>
                  </a:cubicBezTo>
                  <a:lnTo>
                    <a:pt x="3692" y="362938"/>
                  </a:lnTo>
                  <a:cubicBezTo>
                    <a:pt x="-1231" y="354476"/>
                    <a:pt x="-1231" y="344024"/>
                    <a:pt x="3692" y="335562"/>
                  </a:cubicBezTo>
                  <a:lnTo>
                    <a:pt x="190964" y="13688"/>
                  </a:lnTo>
                  <a:cubicBezTo>
                    <a:pt x="195895" y="5213"/>
                    <a:pt x="204959" y="0"/>
                    <a:pt x="214764" y="0"/>
                  </a:cubicBezTo>
                  <a:lnTo>
                    <a:pt x="589492" y="0"/>
                  </a:lnTo>
                  <a:cubicBezTo>
                    <a:pt x="599296" y="0"/>
                    <a:pt x="608361" y="5213"/>
                    <a:pt x="613292" y="13688"/>
                  </a:cubicBezTo>
                  <a:lnTo>
                    <a:pt x="800564" y="335562"/>
                  </a:lnTo>
                  <a:cubicBezTo>
                    <a:pt x="805487" y="344024"/>
                    <a:pt x="805487" y="354476"/>
                    <a:pt x="800564" y="362938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34078" y="6083300"/>
            <a:ext cx="7425222" cy="4389929"/>
            <a:chOff x="0" y="0"/>
            <a:chExt cx="1955614" cy="11561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5614" cy="1156195"/>
            </a:xfrm>
            <a:custGeom>
              <a:avLst/>
              <a:gdLst/>
              <a:ahLst/>
              <a:cxnLst/>
              <a:rect r="r" b="b" t="t" l="l"/>
              <a:pathLst>
                <a:path h="1156195" w="1955614">
                  <a:moveTo>
                    <a:pt x="15640" y="0"/>
                  </a:moveTo>
                  <a:lnTo>
                    <a:pt x="1939974" y="0"/>
                  </a:lnTo>
                  <a:cubicBezTo>
                    <a:pt x="1944122" y="0"/>
                    <a:pt x="1948100" y="1648"/>
                    <a:pt x="1951033" y="4581"/>
                  </a:cubicBezTo>
                  <a:cubicBezTo>
                    <a:pt x="1953966" y="7514"/>
                    <a:pt x="1955614" y="11492"/>
                    <a:pt x="1955614" y="15640"/>
                  </a:cubicBezTo>
                  <a:lnTo>
                    <a:pt x="1955614" y="1140556"/>
                  </a:lnTo>
                  <a:cubicBezTo>
                    <a:pt x="1955614" y="1144703"/>
                    <a:pt x="1953966" y="1148682"/>
                    <a:pt x="1951033" y="1151614"/>
                  </a:cubicBezTo>
                  <a:cubicBezTo>
                    <a:pt x="1948100" y="1154548"/>
                    <a:pt x="1944122" y="1156195"/>
                    <a:pt x="1939974" y="1156195"/>
                  </a:cubicBezTo>
                  <a:lnTo>
                    <a:pt x="15640" y="1156195"/>
                  </a:lnTo>
                  <a:cubicBezTo>
                    <a:pt x="11492" y="1156195"/>
                    <a:pt x="7514" y="1154548"/>
                    <a:pt x="4581" y="1151614"/>
                  </a:cubicBezTo>
                  <a:cubicBezTo>
                    <a:pt x="1648" y="1148682"/>
                    <a:pt x="0" y="1144703"/>
                    <a:pt x="0" y="1140556"/>
                  </a:cubicBezTo>
                  <a:lnTo>
                    <a:pt x="0" y="15640"/>
                  </a:lnTo>
                  <a:cubicBezTo>
                    <a:pt x="0" y="11492"/>
                    <a:pt x="1648" y="7514"/>
                    <a:pt x="4581" y="4581"/>
                  </a:cubicBezTo>
                  <a:cubicBezTo>
                    <a:pt x="7514" y="1648"/>
                    <a:pt x="11492" y="0"/>
                    <a:pt x="15640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55614" cy="1213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17660" y="6415871"/>
            <a:ext cx="5850029" cy="4057358"/>
            <a:chOff x="0" y="0"/>
            <a:chExt cx="800717" cy="5553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0717" cy="555347"/>
            </a:xfrm>
            <a:custGeom>
              <a:avLst/>
              <a:gdLst/>
              <a:ahLst/>
              <a:cxnLst/>
              <a:rect r="r" b="b" t="t" l="l"/>
              <a:pathLst>
                <a:path h="555347" w="800717">
                  <a:moveTo>
                    <a:pt x="68817" y="0"/>
                  </a:moveTo>
                  <a:lnTo>
                    <a:pt x="731901" y="0"/>
                  </a:lnTo>
                  <a:cubicBezTo>
                    <a:pt x="769907" y="0"/>
                    <a:pt x="800717" y="30810"/>
                    <a:pt x="800717" y="68817"/>
                  </a:cubicBezTo>
                  <a:lnTo>
                    <a:pt x="800717" y="486530"/>
                  </a:lnTo>
                  <a:cubicBezTo>
                    <a:pt x="800717" y="524537"/>
                    <a:pt x="769907" y="555347"/>
                    <a:pt x="731901" y="555347"/>
                  </a:cubicBezTo>
                  <a:lnTo>
                    <a:pt x="68817" y="555347"/>
                  </a:lnTo>
                  <a:cubicBezTo>
                    <a:pt x="50565" y="555347"/>
                    <a:pt x="33062" y="548097"/>
                    <a:pt x="20156" y="535191"/>
                  </a:cubicBezTo>
                  <a:cubicBezTo>
                    <a:pt x="7250" y="522286"/>
                    <a:pt x="0" y="504782"/>
                    <a:pt x="0" y="486530"/>
                  </a:cubicBezTo>
                  <a:lnTo>
                    <a:pt x="0" y="68817"/>
                  </a:lnTo>
                  <a:cubicBezTo>
                    <a:pt x="0" y="30810"/>
                    <a:pt x="30810" y="0"/>
                    <a:pt x="68817" y="0"/>
                  </a:cubicBezTo>
                  <a:close/>
                </a:path>
              </a:pathLst>
            </a:custGeom>
            <a:blipFill>
              <a:blip r:embed="rId2"/>
              <a:stretch>
                <a:fillRect l="-1527" t="0" r="-1527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20312" y="-10966"/>
            <a:ext cx="17847377" cy="126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9"/>
              </a:lnSpc>
            </a:pPr>
            <a:r>
              <a:rPr lang="en-US" sz="749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Causes of The Faliure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7589" y="1359830"/>
            <a:ext cx="17430099" cy="509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8415" indent="-519208" lvl="1">
              <a:lnSpc>
                <a:spcPts val="6733"/>
              </a:lnSpc>
              <a:buFont typeface="Arial"/>
              <a:buChar char="•"/>
            </a:pPr>
            <a:r>
              <a:rPr lang="en-US" sz="480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Metal fatigue from repeated pressurization </a:t>
            </a:r>
          </a:p>
          <a:p>
            <a:pPr algn="l" marL="1082384" indent="-541192" lvl="1">
              <a:lnSpc>
                <a:spcPts val="7018"/>
              </a:lnSpc>
              <a:buFont typeface="Arial"/>
              <a:buChar char="•"/>
            </a:pPr>
            <a:r>
              <a:rPr lang="en-US" sz="501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Corrosion in the fuselage structure</a:t>
            </a:r>
          </a:p>
          <a:p>
            <a:pPr algn="l" marL="1038415" indent="-519208" lvl="1">
              <a:lnSpc>
                <a:spcPts val="6733"/>
              </a:lnSpc>
              <a:buFont typeface="Arial"/>
              <a:buChar char="•"/>
            </a:pPr>
            <a:r>
              <a:rPr lang="en-US" sz="480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Cracks around rivet holes</a:t>
            </a:r>
          </a:p>
          <a:p>
            <a:pPr algn="l" marL="1038415" indent="-519208" lvl="1">
              <a:lnSpc>
                <a:spcPts val="6733"/>
              </a:lnSpc>
              <a:buFont typeface="Arial"/>
              <a:buChar char="•"/>
            </a:pPr>
            <a:r>
              <a:rPr lang="en-US" sz="480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Weak fuselage lap joints</a:t>
            </a:r>
          </a:p>
          <a:p>
            <a:pPr algn="l" marL="1038415" indent="-519208" lvl="1">
              <a:lnSpc>
                <a:spcPts val="6733"/>
              </a:lnSpc>
              <a:buFont typeface="Arial"/>
              <a:buChar char="•"/>
            </a:pPr>
            <a:r>
              <a:rPr lang="en-US" sz="480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Maintenance did not detect the damage early</a:t>
            </a:r>
          </a:p>
          <a:p>
            <a:pPr algn="l" marL="1038415" indent="-519208" lvl="1">
              <a:lnSpc>
                <a:spcPts val="6733"/>
              </a:lnSpc>
              <a:buFont typeface="Arial"/>
              <a:buChar char="•"/>
            </a:pPr>
            <a:r>
              <a:rPr lang="en-US" sz="480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Cracks grew slowly until the structure failed 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589" y="6935556"/>
            <a:ext cx="10871029" cy="2635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84" indent="-539742" lvl="1">
              <a:lnSpc>
                <a:spcPts val="6999"/>
              </a:lnSpc>
              <a:buFont typeface="Arial"/>
              <a:buChar char="•"/>
            </a:pPr>
            <a:r>
              <a:rPr lang="en-US" sz="49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Old design led to cracks and structural weakness over time.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46689" y="-3028658"/>
            <a:ext cx="7333333" cy="6302083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72" y="0"/>
              <a:ext cx="8042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4257">
                  <a:moveTo>
                    <a:pt x="800564" y="362938"/>
                  </a:moveTo>
                  <a:lnTo>
                    <a:pt x="613292" y="684812"/>
                  </a:lnTo>
                  <a:cubicBezTo>
                    <a:pt x="608361" y="693287"/>
                    <a:pt x="599296" y="698500"/>
                    <a:pt x="589492" y="698500"/>
                  </a:cubicBezTo>
                  <a:lnTo>
                    <a:pt x="214764" y="698500"/>
                  </a:lnTo>
                  <a:cubicBezTo>
                    <a:pt x="204959" y="698500"/>
                    <a:pt x="195895" y="693287"/>
                    <a:pt x="190964" y="684812"/>
                  </a:cubicBezTo>
                  <a:lnTo>
                    <a:pt x="3692" y="362938"/>
                  </a:lnTo>
                  <a:cubicBezTo>
                    <a:pt x="-1231" y="354476"/>
                    <a:pt x="-1231" y="344024"/>
                    <a:pt x="3692" y="335562"/>
                  </a:cubicBezTo>
                  <a:lnTo>
                    <a:pt x="190964" y="13688"/>
                  </a:lnTo>
                  <a:cubicBezTo>
                    <a:pt x="195895" y="5213"/>
                    <a:pt x="204959" y="0"/>
                    <a:pt x="214764" y="0"/>
                  </a:cubicBezTo>
                  <a:lnTo>
                    <a:pt x="589492" y="0"/>
                  </a:lnTo>
                  <a:cubicBezTo>
                    <a:pt x="599296" y="0"/>
                    <a:pt x="608361" y="5213"/>
                    <a:pt x="613292" y="13688"/>
                  </a:cubicBezTo>
                  <a:lnTo>
                    <a:pt x="800564" y="335562"/>
                  </a:lnTo>
                  <a:cubicBezTo>
                    <a:pt x="805487" y="344024"/>
                    <a:pt x="805487" y="354476"/>
                    <a:pt x="800564" y="362938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827999" y="-2122341"/>
            <a:ext cx="7333333" cy="6302083"/>
            <a:chOff x="0" y="0"/>
            <a:chExt cx="8128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272" y="0"/>
              <a:ext cx="804257" cy="698500"/>
            </a:xfrm>
            <a:custGeom>
              <a:avLst/>
              <a:gdLst/>
              <a:ahLst/>
              <a:cxnLst/>
              <a:rect r="r" b="b" t="t" l="l"/>
              <a:pathLst>
                <a:path h="698500" w="804257">
                  <a:moveTo>
                    <a:pt x="800564" y="362938"/>
                  </a:moveTo>
                  <a:lnTo>
                    <a:pt x="613292" y="684812"/>
                  </a:lnTo>
                  <a:cubicBezTo>
                    <a:pt x="608361" y="693287"/>
                    <a:pt x="599296" y="698500"/>
                    <a:pt x="589492" y="698500"/>
                  </a:cubicBezTo>
                  <a:lnTo>
                    <a:pt x="214764" y="698500"/>
                  </a:lnTo>
                  <a:cubicBezTo>
                    <a:pt x="204959" y="698500"/>
                    <a:pt x="195895" y="693287"/>
                    <a:pt x="190964" y="684812"/>
                  </a:cubicBezTo>
                  <a:lnTo>
                    <a:pt x="3692" y="362938"/>
                  </a:lnTo>
                  <a:cubicBezTo>
                    <a:pt x="-1231" y="354476"/>
                    <a:pt x="-1231" y="344024"/>
                    <a:pt x="3692" y="335562"/>
                  </a:cubicBezTo>
                  <a:lnTo>
                    <a:pt x="190964" y="13688"/>
                  </a:lnTo>
                  <a:cubicBezTo>
                    <a:pt x="195895" y="5213"/>
                    <a:pt x="204959" y="0"/>
                    <a:pt x="214764" y="0"/>
                  </a:cubicBezTo>
                  <a:lnTo>
                    <a:pt x="589492" y="0"/>
                  </a:lnTo>
                  <a:cubicBezTo>
                    <a:pt x="599296" y="0"/>
                    <a:pt x="608361" y="5213"/>
                    <a:pt x="613292" y="13688"/>
                  </a:cubicBezTo>
                  <a:lnTo>
                    <a:pt x="800564" y="335562"/>
                  </a:lnTo>
                  <a:cubicBezTo>
                    <a:pt x="805487" y="344024"/>
                    <a:pt x="805487" y="354476"/>
                    <a:pt x="800564" y="362938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2778" y="6861268"/>
            <a:ext cx="7425222" cy="4389929"/>
            <a:chOff x="0" y="0"/>
            <a:chExt cx="1955614" cy="11561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5614" cy="1156195"/>
            </a:xfrm>
            <a:custGeom>
              <a:avLst/>
              <a:gdLst/>
              <a:ahLst/>
              <a:cxnLst/>
              <a:rect r="r" b="b" t="t" l="l"/>
              <a:pathLst>
                <a:path h="1156195" w="1955614">
                  <a:moveTo>
                    <a:pt x="15640" y="0"/>
                  </a:moveTo>
                  <a:lnTo>
                    <a:pt x="1939974" y="0"/>
                  </a:lnTo>
                  <a:cubicBezTo>
                    <a:pt x="1944122" y="0"/>
                    <a:pt x="1948100" y="1648"/>
                    <a:pt x="1951033" y="4581"/>
                  </a:cubicBezTo>
                  <a:cubicBezTo>
                    <a:pt x="1953966" y="7514"/>
                    <a:pt x="1955614" y="11492"/>
                    <a:pt x="1955614" y="15640"/>
                  </a:cubicBezTo>
                  <a:lnTo>
                    <a:pt x="1955614" y="1140556"/>
                  </a:lnTo>
                  <a:cubicBezTo>
                    <a:pt x="1955614" y="1144703"/>
                    <a:pt x="1953966" y="1148682"/>
                    <a:pt x="1951033" y="1151614"/>
                  </a:cubicBezTo>
                  <a:cubicBezTo>
                    <a:pt x="1948100" y="1154548"/>
                    <a:pt x="1944122" y="1156195"/>
                    <a:pt x="1939974" y="1156195"/>
                  </a:cubicBezTo>
                  <a:lnTo>
                    <a:pt x="15640" y="1156195"/>
                  </a:lnTo>
                  <a:cubicBezTo>
                    <a:pt x="11492" y="1156195"/>
                    <a:pt x="7514" y="1154548"/>
                    <a:pt x="4581" y="1151614"/>
                  </a:cubicBezTo>
                  <a:cubicBezTo>
                    <a:pt x="1648" y="1148682"/>
                    <a:pt x="0" y="1144703"/>
                    <a:pt x="0" y="1140556"/>
                  </a:cubicBezTo>
                  <a:lnTo>
                    <a:pt x="0" y="15640"/>
                  </a:lnTo>
                  <a:cubicBezTo>
                    <a:pt x="0" y="11492"/>
                    <a:pt x="1648" y="7514"/>
                    <a:pt x="4581" y="4581"/>
                  </a:cubicBezTo>
                  <a:cubicBezTo>
                    <a:pt x="7514" y="1648"/>
                    <a:pt x="11492" y="0"/>
                    <a:pt x="15640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55614" cy="12133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05334" y="2090187"/>
            <a:ext cx="11782666" cy="618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4716" indent="-507358" lvl="1">
              <a:lnSpc>
                <a:spcPts val="6579"/>
              </a:lnSpc>
              <a:buFont typeface="Arial"/>
              <a:buChar char="•"/>
            </a:pPr>
            <a:r>
              <a:rPr lang="en-US" sz="4699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Fatigue cracks around rivet holes: repeated stress caused cracks to grow until failure . </a:t>
            </a:r>
          </a:p>
          <a:p>
            <a:pPr algn="l" marL="1144253" indent="-572126" lvl="1">
              <a:lnSpc>
                <a:spcPts val="7419"/>
              </a:lnSpc>
              <a:buFont typeface="Arial"/>
              <a:buChar char="•"/>
            </a:pPr>
            <a:r>
              <a:rPr lang="en-US" sz="5299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Material and design issue: thin fuselage skin and cold-bonded joints made the structure more vulnerable 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00950" y="8182390"/>
            <a:ext cx="301543" cy="259138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5214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28700" y="417472"/>
            <a:ext cx="4578543" cy="8638760"/>
          </a:xfrm>
          <a:custGeom>
            <a:avLst/>
            <a:gdLst/>
            <a:ahLst/>
            <a:cxnLst/>
            <a:rect r="r" b="b" t="t" l="l"/>
            <a:pathLst>
              <a:path h="8638760" w="4578543">
                <a:moveTo>
                  <a:pt x="0" y="0"/>
                </a:moveTo>
                <a:lnTo>
                  <a:pt x="4578543" y="0"/>
                </a:lnTo>
                <a:lnTo>
                  <a:pt x="4578543" y="8638760"/>
                </a:lnTo>
                <a:lnTo>
                  <a:pt x="0" y="8638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491960" y="337340"/>
            <a:ext cx="7845028" cy="180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9"/>
              </a:lnSpc>
            </a:pPr>
            <a:r>
              <a:rPr lang="en-US" sz="10599" b="true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Root Cause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1362" y="9153525"/>
            <a:ext cx="5033218" cy="797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sz="4599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rivet holes graph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14718" y="-1527384"/>
            <a:ext cx="5948705" cy="5112168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266" y="0"/>
              <a:ext cx="802268" cy="698500"/>
            </a:xfrm>
            <a:custGeom>
              <a:avLst/>
              <a:gdLst/>
              <a:ahLst/>
              <a:cxnLst/>
              <a:rect r="r" b="b" t="t" l="l"/>
              <a:pathLst>
                <a:path h="698500" w="802268">
                  <a:moveTo>
                    <a:pt x="797717" y="366124"/>
                  </a:moveTo>
                  <a:lnTo>
                    <a:pt x="614151" y="681626"/>
                  </a:lnTo>
                  <a:cubicBezTo>
                    <a:pt x="608073" y="692073"/>
                    <a:pt x="596899" y="698500"/>
                    <a:pt x="584812" y="698500"/>
                  </a:cubicBezTo>
                  <a:lnTo>
                    <a:pt x="217456" y="698500"/>
                  </a:lnTo>
                  <a:cubicBezTo>
                    <a:pt x="205369" y="698500"/>
                    <a:pt x="194195" y="692073"/>
                    <a:pt x="188117" y="681626"/>
                  </a:cubicBezTo>
                  <a:lnTo>
                    <a:pt x="4551" y="366124"/>
                  </a:lnTo>
                  <a:cubicBezTo>
                    <a:pt x="-1517" y="355693"/>
                    <a:pt x="-1517" y="342807"/>
                    <a:pt x="4551" y="332376"/>
                  </a:cubicBezTo>
                  <a:lnTo>
                    <a:pt x="188117" y="16874"/>
                  </a:lnTo>
                  <a:cubicBezTo>
                    <a:pt x="194195" y="6427"/>
                    <a:pt x="205369" y="0"/>
                    <a:pt x="217456" y="0"/>
                  </a:cubicBezTo>
                  <a:lnTo>
                    <a:pt x="584812" y="0"/>
                  </a:lnTo>
                  <a:cubicBezTo>
                    <a:pt x="596899" y="0"/>
                    <a:pt x="608073" y="6427"/>
                    <a:pt x="614151" y="16874"/>
                  </a:cubicBezTo>
                  <a:lnTo>
                    <a:pt x="797717" y="332376"/>
                  </a:lnTo>
                  <a:cubicBezTo>
                    <a:pt x="803785" y="342807"/>
                    <a:pt x="803785" y="355693"/>
                    <a:pt x="797717" y="366124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53609" y="-33547"/>
            <a:ext cx="8477250" cy="3618331"/>
            <a:chOff x="0" y="0"/>
            <a:chExt cx="1158287" cy="494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908" y="0"/>
              <a:ext cx="1148472" cy="494390"/>
            </a:xfrm>
            <a:custGeom>
              <a:avLst/>
              <a:gdLst/>
              <a:ahLst/>
              <a:cxnLst/>
              <a:rect r="r" b="b" t="t" l="l"/>
              <a:pathLst>
                <a:path h="494390" w="1148472">
                  <a:moveTo>
                    <a:pt x="1144680" y="257777"/>
                  </a:moveTo>
                  <a:lnTo>
                    <a:pt x="958878" y="483807"/>
                  </a:lnTo>
                  <a:cubicBezTo>
                    <a:pt x="953371" y="490507"/>
                    <a:pt x="945153" y="494390"/>
                    <a:pt x="936480" y="494390"/>
                  </a:cubicBezTo>
                  <a:lnTo>
                    <a:pt x="211991" y="494390"/>
                  </a:lnTo>
                  <a:cubicBezTo>
                    <a:pt x="203318" y="494390"/>
                    <a:pt x="195100" y="490507"/>
                    <a:pt x="189593" y="483807"/>
                  </a:cubicBezTo>
                  <a:lnTo>
                    <a:pt x="3791" y="257777"/>
                  </a:lnTo>
                  <a:cubicBezTo>
                    <a:pt x="-1264" y="251628"/>
                    <a:pt x="-1264" y="242762"/>
                    <a:pt x="3791" y="236613"/>
                  </a:cubicBezTo>
                  <a:lnTo>
                    <a:pt x="189593" y="10582"/>
                  </a:lnTo>
                  <a:cubicBezTo>
                    <a:pt x="195100" y="3883"/>
                    <a:pt x="203318" y="0"/>
                    <a:pt x="211991" y="0"/>
                  </a:cubicBezTo>
                  <a:lnTo>
                    <a:pt x="936480" y="0"/>
                  </a:lnTo>
                  <a:cubicBezTo>
                    <a:pt x="945153" y="0"/>
                    <a:pt x="953371" y="3883"/>
                    <a:pt x="958878" y="10582"/>
                  </a:cubicBezTo>
                  <a:lnTo>
                    <a:pt x="1144680" y="236613"/>
                  </a:lnTo>
                  <a:cubicBezTo>
                    <a:pt x="1149735" y="242762"/>
                    <a:pt x="1149735" y="251628"/>
                    <a:pt x="1144680" y="257777"/>
                  </a:cubicBezTo>
                  <a:close/>
                </a:path>
              </a:pathLst>
            </a:custGeom>
            <a:blipFill>
              <a:blip r:embed="rId2"/>
              <a:stretch>
                <a:fillRect l="-427" t="-22628" r="-427" b="-22628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5560343" y="5378869"/>
            <a:ext cx="886690" cy="762000"/>
            <a:chOff x="0" y="0"/>
            <a:chExt cx="812800" cy="698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1776" y="0"/>
              <a:ext cx="789248" cy="698500"/>
            </a:xfrm>
            <a:custGeom>
              <a:avLst/>
              <a:gdLst/>
              <a:ahLst/>
              <a:cxnLst/>
              <a:rect r="r" b="b" t="t" l="l"/>
              <a:pathLst>
                <a:path h="698500" w="789248">
                  <a:moveTo>
                    <a:pt x="779070" y="386984"/>
                  </a:moveTo>
                  <a:lnTo>
                    <a:pt x="619778" y="660766"/>
                  </a:lnTo>
                  <a:cubicBezTo>
                    <a:pt x="606186" y="684128"/>
                    <a:pt x="581196" y="698500"/>
                    <a:pt x="554168" y="698500"/>
                  </a:cubicBezTo>
                  <a:lnTo>
                    <a:pt x="235080" y="698500"/>
                  </a:lnTo>
                  <a:cubicBezTo>
                    <a:pt x="208052" y="698500"/>
                    <a:pt x="183062" y="684128"/>
                    <a:pt x="169470" y="660766"/>
                  </a:cubicBezTo>
                  <a:lnTo>
                    <a:pt x="10178" y="386984"/>
                  </a:lnTo>
                  <a:cubicBezTo>
                    <a:pt x="-3393" y="363658"/>
                    <a:pt x="-3393" y="334842"/>
                    <a:pt x="10178" y="311516"/>
                  </a:cubicBezTo>
                  <a:lnTo>
                    <a:pt x="169470" y="37734"/>
                  </a:lnTo>
                  <a:cubicBezTo>
                    <a:pt x="183062" y="14372"/>
                    <a:pt x="208052" y="0"/>
                    <a:pt x="235080" y="0"/>
                  </a:cubicBezTo>
                  <a:lnTo>
                    <a:pt x="554168" y="0"/>
                  </a:lnTo>
                  <a:cubicBezTo>
                    <a:pt x="581196" y="0"/>
                    <a:pt x="606186" y="14372"/>
                    <a:pt x="619778" y="37734"/>
                  </a:cubicBezTo>
                  <a:lnTo>
                    <a:pt x="779070" y="311516"/>
                  </a:lnTo>
                  <a:cubicBezTo>
                    <a:pt x="792641" y="334842"/>
                    <a:pt x="792641" y="363658"/>
                    <a:pt x="779070" y="386984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solidFill>
                <a:srgbClr val="F9F9F9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1945652" y="2359025"/>
            <a:ext cx="5948705" cy="5112168"/>
            <a:chOff x="0" y="0"/>
            <a:chExt cx="812800" cy="698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266" y="0"/>
              <a:ext cx="802268" cy="698500"/>
            </a:xfrm>
            <a:custGeom>
              <a:avLst/>
              <a:gdLst/>
              <a:ahLst/>
              <a:cxnLst/>
              <a:rect r="r" b="b" t="t" l="l"/>
              <a:pathLst>
                <a:path h="698500" w="802268">
                  <a:moveTo>
                    <a:pt x="797717" y="366124"/>
                  </a:moveTo>
                  <a:lnTo>
                    <a:pt x="614151" y="681626"/>
                  </a:lnTo>
                  <a:cubicBezTo>
                    <a:pt x="608073" y="692073"/>
                    <a:pt x="596899" y="698500"/>
                    <a:pt x="584812" y="698500"/>
                  </a:cubicBezTo>
                  <a:lnTo>
                    <a:pt x="217456" y="698500"/>
                  </a:lnTo>
                  <a:cubicBezTo>
                    <a:pt x="205369" y="698500"/>
                    <a:pt x="194195" y="692073"/>
                    <a:pt x="188117" y="681626"/>
                  </a:cubicBezTo>
                  <a:lnTo>
                    <a:pt x="4551" y="366124"/>
                  </a:lnTo>
                  <a:cubicBezTo>
                    <a:pt x="-1517" y="355693"/>
                    <a:pt x="-1517" y="342807"/>
                    <a:pt x="4551" y="332376"/>
                  </a:cubicBezTo>
                  <a:lnTo>
                    <a:pt x="188117" y="16874"/>
                  </a:lnTo>
                  <a:cubicBezTo>
                    <a:pt x="194195" y="6427"/>
                    <a:pt x="205369" y="0"/>
                    <a:pt x="217456" y="0"/>
                  </a:cubicBezTo>
                  <a:lnTo>
                    <a:pt x="584812" y="0"/>
                  </a:lnTo>
                  <a:cubicBezTo>
                    <a:pt x="596899" y="0"/>
                    <a:pt x="608073" y="6427"/>
                    <a:pt x="614151" y="16874"/>
                  </a:cubicBezTo>
                  <a:lnTo>
                    <a:pt x="797717" y="332376"/>
                  </a:lnTo>
                  <a:cubicBezTo>
                    <a:pt x="803785" y="342807"/>
                    <a:pt x="803785" y="355693"/>
                    <a:pt x="797717" y="366124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359525"/>
            <a:ext cx="7086600" cy="4053571"/>
            <a:chOff x="0" y="0"/>
            <a:chExt cx="1866430" cy="10676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6430" cy="1067607"/>
            </a:xfrm>
            <a:custGeom>
              <a:avLst/>
              <a:gdLst/>
              <a:ahLst/>
              <a:cxnLst/>
              <a:rect r="r" b="b" t="t" l="l"/>
              <a:pathLst>
                <a:path h="1067607" w="1866430">
                  <a:moveTo>
                    <a:pt x="16387" y="0"/>
                  </a:moveTo>
                  <a:lnTo>
                    <a:pt x="1850043" y="0"/>
                  </a:lnTo>
                  <a:cubicBezTo>
                    <a:pt x="1854389" y="0"/>
                    <a:pt x="1858557" y="1726"/>
                    <a:pt x="1861630" y="4800"/>
                  </a:cubicBezTo>
                  <a:cubicBezTo>
                    <a:pt x="1864703" y="7873"/>
                    <a:pt x="1866430" y="12041"/>
                    <a:pt x="1866430" y="16387"/>
                  </a:cubicBezTo>
                  <a:lnTo>
                    <a:pt x="1866430" y="1051220"/>
                  </a:lnTo>
                  <a:cubicBezTo>
                    <a:pt x="1866430" y="1055566"/>
                    <a:pt x="1864703" y="1059734"/>
                    <a:pt x="1861630" y="1062808"/>
                  </a:cubicBezTo>
                  <a:cubicBezTo>
                    <a:pt x="1858557" y="1065881"/>
                    <a:pt x="1854389" y="1067607"/>
                    <a:pt x="1850043" y="1067607"/>
                  </a:cubicBezTo>
                  <a:lnTo>
                    <a:pt x="16387" y="1067607"/>
                  </a:lnTo>
                  <a:cubicBezTo>
                    <a:pt x="7337" y="1067607"/>
                    <a:pt x="0" y="1060270"/>
                    <a:pt x="0" y="1051220"/>
                  </a:cubicBezTo>
                  <a:lnTo>
                    <a:pt x="0" y="16387"/>
                  </a:lnTo>
                  <a:cubicBezTo>
                    <a:pt x="0" y="12041"/>
                    <a:pt x="1726" y="7873"/>
                    <a:pt x="4800" y="4800"/>
                  </a:cubicBezTo>
                  <a:cubicBezTo>
                    <a:pt x="7873" y="1726"/>
                    <a:pt x="12041" y="0"/>
                    <a:pt x="16387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66430" cy="1124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2195" y="6197600"/>
            <a:ext cx="1774463" cy="257175"/>
            <a:chOff x="0" y="0"/>
            <a:chExt cx="467348" cy="677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67348" cy="67733"/>
            </a:xfrm>
            <a:custGeom>
              <a:avLst/>
              <a:gdLst/>
              <a:ahLst/>
              <a:cxnLst/>
              <a:rect r="r" b="b" t="t" l="l"/>
              <a:pathLst>
                <a:path h="67733" w="467348">
                  <a:moveTo>
                    <a:pt x="33867" y="0"/>
                  </a:moveTo>
                  <a:lnTo>
                    <a:pt x="433482" y="0"/>
                  </a:lnTo>
                  <a:cubicBezTo>
                    <a:pt x="442464" y="0"/>
                    <a:pt x="451078" y="3568"/>
                    <a:pt x="457429" y="9919"/>
                  </a:cubicBezTo>
                  <a:cubicBezTo>
                    <a:pt x="463780" y="16271"/>
                    <a:pt x="467348" y="24885"/>
                    <a:pt x="467348" y="33867"/>
                  </a:cubicBezTo>
                  <a:lnTo>
                    <a:pt x="467348" y="33867"/>
                  </a:lnTo>
                  <a:cubicBezTo>
                    <a:pt x="467348" y="52571"/>
                    <a:pt x="452186" y="67733"/>
                    <a:pt x="433482" y="67733"/>
                  </a:cubicBezTo>
                  <a:lnTo>
                    <a:pt x="33867" y="67733"/>
                  </a:lnTo>
                  <a:cubicBezTo>
                    <a:pt x="15163" y="67733"/>
                    <a:pt x="0" y="52571"/>
                    <a:pt x="0" y="33867"/>
                  </a:cubicBezTo>
                  <a:lnTo>
                    <a:pt x="0" y="33867"/>
                  </a:lnTo>
                  <a:cubicBezTo>
                    <a:pt x="0" y="15163"/>
                    <a:pt x="15163" y="0"/>
                    <a:pt x="338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CEE1">
                    <a:alpha val="100000"/>
                  </a:srgbClr>
                </a:gs>
                <a:gs pos="100000">
                  <a:srgbClr val="006EA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67348" cy="124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72058" y="416255"/>
            <a:ext cx="9031408" cy="20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12"/>
              </a:lnSpc>
            </a:pPr>
            <a:r>
              <a:rPr lang="en-US" sz="11794" b="true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Solutions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293344" y="3480009"/>
            <a:ext cx="15095471" cy="656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7807" indent="-543903" lvl="1">
              <a:lnSpc>
                <a:spcPts val="7053"/>
              </a:lnSpc>
              <a:buFont typeface="Arial"/>
              <a:buChar char="•"/>
            </a:pPr>
            <a:r>
              <a:rPr lang="en-US" sz="5038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 Regular and detailed aircraft inspections</a:t>
            </a:r>
          </a:p>
          <a:p>
            <a:pPr algn="l" marL="993441" indent="-496720" lvl="1">
              <a:lnSpc>
                <a:spcPts val="6441"/>
              </a:lnSpc>
              <a:buFont typeface="Arial"/>
              <a:buChar char="•"/>
            </a:pPr>
            <a:r>
              <a:rPr lang="en-US" sz="4601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 Use of advanced non-destructive testing (NDT) methods</a:t>
            </a:r>
          </a:p>
          <a:p>
            <a:pPr algn="l" marL="993441" indent="-496720" lvl="1">
              <a:lnSpc>
                <a:spcPts val="6441"/>
              </a:lnSpc>
              <a:buFont typeface="Arial"/>
              <a:buChar char="•"/>
            </a:pPr>
            <a:r>
              <a:rPr lang="en-US" sz="4601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Early detection systems for cracks and corrosion</a:t>
            </a:r>
          </a:p>
          <a:p>
            <a:pPr algn="l" marL="993441" indent="-496720" lvl="1">
              <a:lnSpc>
                <a:spcPts val="6441"/>
              </a:lnSpc>
              <a:buFont typeface="Arial"/>
              <a:buChar char="•"/>
            </a:pPr>
            <a:r>
              <a:rPr lang="en-US" sz="4601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 Stronger and improved fuselage design</a:t>
            </a:r>
          </a:p>
          <a:p>
            <a:pPr algn="l" marL="993441" indent="-496720" lvl="1">
              <a:lnSpc>
                <a:spcPts val="6441"/>
              </a:lnSpc>
              <a:buFont typeface="Arial"/>
              <a:buChar char="•"/>
            </a:pPr>
            <a:r>
              <a:rPr lang="en-US" sz="4601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 Better maintenance training for engineers</a:t>
            </a:r>
          </a:p>
          <a:p>
            <a:pPr algn="l" marL="993441" indent="-496720" lvl="1">
              <a:lnSpc>
                <a:spcPts val="6441"/>
              </a:lnSpc>
              <a:buFont typeface="Arial"/>
              <a:buChar char="•"/>
            </a:pPr>
            <a:r>
              <a:rPr lang="en-US" sz="4601">
                <a:solidFill>
                  <a:srgbClr val="F9F9F9"/>
                </a:solidFill>
                <a:latin typeface="Neue Machina"/>
                <a:ea typeface="Neue Machina"/>
                <a:cs typeface="Neue Machina"/>
                <a:sym typeface="Neue Machina"/>
              </a:rPr>
              <a:t> Strict safety regulations and supervision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91520">
                <a:alpha val="100000"/>
              </a:srgbClr>
            </a:gs>
            <a:gs pos="100000">
              <a:srgbClr val="05224E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50653" y="-1898083"/>
            <a:ext cx="4417357" cy="3796166"/>
            <a:chOff x="0" y="0"/>
            <a:chExt cx="8128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091" y="0"/>
              <a:ext cx="798617" cy="698500"/>
            </a:xfrm>
            <a:custGeom>
              <a:avLst/>
              <a:gdLst/>
              <a:ahLst/>
              <a:cxnLst/>
              <a:rect r="r" b="b" t="t" l="l"/>
              <a:pathLst>
                <a:path h="698500" w="798617">
                  <a:moveTo>
                    <a:pt x="792488" y="371973"/>
                  </a:moveTo>
                  <a:lnTo>
                    <a:pt x="615730" y="675777"/>
                  </a:lnTo>
                  <a:cubicBezTo>
                    <a:pt x="607544" y="689845"/>
                    <a:pt x="592496" y="698500"/>
                    <a:pt x="576220" y="698500"/>
                  </a:cubicBezTo>
                  <a:lnTo>
                    <a:pt x="222398" y="698500"/>
                  </a:lnTo>
                  <a:cubicBezTo>
                    <a:pt x="206122" y="698500"/>
                    <a:pt x="191074" y="689845"/>
                    <a:pt x="182888" y="675777"/>
                  </a:cubicBezTo>
                  <a:lnTo>
                    <a:pt x="6130" y="371973"/>
                  </a:lnTo>
                  <a:cubicBezTo>
                    <a:pt x="-2043" y="357927"/>
                    <a:pt x="-2043" y="340573"/>
                    <a:pt x="6130" y="326527"/>
                  </a:cubicBezTo>
                  <a:lnTo>
                    <a:pt x="182888" y="22723"/>
                  </a:lnTo>
                  <a:cubicBezTo>
                    <a:pt x="191074" y="8655"/>
                    <a:pt x="206122" y="0"/>
                    <a:pt x="222398" y="0"/>
                  </a:cubicBezTo>
                  <a:lnTo>
                    <a:pt x="576220" y="0"/>
                  </a:lnTo>
                  <a:cubicBezTo>
                    <a:pt x="592496" y="0"/>
                    <a:pt x="607544" y="8655"/>
                    <a:pt x="615730" y="22723"/>
                  </a:cubicBezTo>
                  <a:lnTo>
                    <a:pt x="792488" y="326527"/>
                  </a:lnTo>
                  <a:cubicBezTo>
                    <a:pt x="800661" y="340573"/>
                    <a:pt x="800661" y="357927"/>
                    <a:pt x="792488" y="371973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80677" y="7224057"/>
            <a:ext cx="17539977" cy="3273451"/>
            <a:chOff x="0" y="0"/>
            <a:chExt cx="4619582" cy="8621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19582" cy="862143"/>
            </a:xfrm>
            <a:custGeom>
              <a:avLst/>
              <a:gdLst/>
              <a:ahLst/>
              <a:cxnLst/>
              <a:rect r="r" b="b" t="t" l="l"/>
              <a:pathLst>
                <a:path h="862143" w="4619582">
                  <a:moveTo>
                    <a:pt x="6621" y="0"/>
                  </a:moveTo>
                  <a:lnTo>
                    <a:pt x="4612961" y="0"/>
                  </a:lnTo>
                  <a:cubicBezTo>
                    <a:pt x="4614718" y="0"/>
                    <a:pt x="4616402" y="698"/>
                    <a:pt x="4617643" y="1939"/>
                  </a:cubicBezTo>
                  <a:cubicBezTo>
                    <a:pt x="4618885" y="3181"/>
                    <a:pt x="4619582" y="4865"/>
                    <a:pt x="4619582" y="6621"/>
                  </a:cubicBezTo>
                  <a:lnTo>
                    <a:pt x="4619582" y="855523"/>
                  </a:lnTo>
                  <a:cubicBezTo>
                    <a:pt x="4619582" y="857279"/>
                    <a:pt x="4618885" y="858963"/>
                    <a:pt x="4617643" y="860204"/>
                  </a:cubicBezTo>
                  <a:cubicBezTo>
                    <a:pt x="4616402" y="861446"/>
                    <a:pt x="4614718" y="862143"/>
                    <a:pt x="4612961" y="862143"/>
                  </a:cubicBezTo>
                  <a:lnTo>
                    <a:pt x="6621" y="862143"/>
                  </a:lnTo>
                  <a:cubicBezTo>
                    <a:pt x="4865" y="862143"/>
                    <a:pt x="3181" y="861446"/>
                    <a:pt x="1939" y="860204"/>
                  </a:cubicBezTo>
                  <a:cubicBezTo>
                    <a:pt x="698" y="858963"/>
                    <a:pt x="0" y="857279"/>
                    <a:pt x="0" y="855523"/>
                  </a:cubicBezTo>
                  <a:lnTo>
                    <a:pt x="0" y="6621"/>
                  </a:lnTo>
                  <a:cubicBezTo>
                    <a:pt x="0" y="4865"/>
                    <a:pt x="698" y="3181"/>
                    <a:pt x="1939" y="1939"/>
                  </a:cubicBezTo>
                  <a:cubicBezTo>
                    <a:pt x="3181" y="698"/>
                    <a:pt x="4865" y="0"/>
                    <a:pt x="6621" y="0"/>
                  </a:cubicBezTo>
                  <a:close/>
                </a:path>
              </a:pathLst>
            </a:custGeom>
            <a:solidFill>
              <a:srgbClr val="0915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619582" cy="91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74097" y="3115648"/>
            <a:ext cx="9262129" cy="7959642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82" y="0"/>
              <a:ext cx="806036" cy="698500"/>
            </a:xfrm>
            <a:custGeom>
              <a:avLst/>
              <a:gdLst/>
              <a:ahLst/>
              <a:cxnLst/>
              <a:rect r="r" b="b" t="t" l="l"/>
              <a:pathLst>
                <a:path h="698500" w="806036">
                  <a:moveTo>
                    <a:pt x="803113" y="360087"/>
                  </a:moveTo>
                  <a:lnTo>
                    <a:pt x="612523" y="687663"/>
                  </a:lnTo>
                  <a:cubicBezTo>
                    <a:pt x="608620" y="694372"/>
                    <a:pt x="601443" y="698500"/>
                    <a:pt x="593680" y="698500"/>
                  </a:cubicBezTo>
                  <a:lnTo>
                    <a:pt x="212356" y="698500"/>
                  </a:lnTo>
                  <a:cubicBezTo>
                    <a:pt x="204593" y="698500"/>
                    <a:pt x="197416" y="694372"/>
                    <a:pt x="193513" y="687663"/>
                  </a:cubicBezTo>
                  <a:lnTo>
                    <a:pt x="2923" y="360087"/>
                  </a:lnTo>
                  <a:cubicBezTo>
                    <a:pt x="-974" y="353388"/>
                    <a:pt x="-974" y="345112"/>
                    <a:pt x="2923" y="338413"/>
                  </a:cubicBezTo>
                  <a:lnTo>
                    <a:pt x="193513" y="10837"/>
                  </a:lnTo>
                  <a:cubicBezTo>
                    <a:pt x="197416" y="4128"/>
                    <a:pt x="204593" y="0"/>
                    <a:pt x="212356" y="0"/>
                  </a:cubicBezTo>
                  <a:lnTo>
                    <a:pt x="593680" y="0"/>
                  </a:lnTo>
                  <a:cubicBezTo>
                    <a:pt x="601443" y="0"/>
                    <a:pt x="608620" y="4128"/>
                    <a:pt x="612523" y="10837"/>
                  </a:cubicBezTo>
                  <a:lnTo>
                    <a:pt x="803113" y="338413"/>
                  </a:lnTo>
                  <a:cubicBezTo>
                    <a:pt x="807010" y="345112"/>
                    <a:pt x="807010" y="353388"/>
                    <a:pt x="803113" y="360087"/>
                  </a:cubicBezTo>
                  <a:close/>
                </a:path>
              </a:pathLst>
            </a:custGeom>
            <a:ln w="19050" cap="sq">
              <a:gradFill>
                <a:gsLst>
                  <a:gs pos="0">
                    <a:srgbClr val="00CEE1">
                      <a:alpha val="100000"/>
                    </a:srgbClr>
                  </a:gs>
                  <a:gs pos="100000">
                    <a:srgbClr val="006EA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29205" y="6843057"/>
            <a:ext cx="886690" cy="762000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1776" y="0"/>
              <a:ext cx="789248" cy="698500"/>
            </a:xfrm>
            <a:custGeom>
              <a:avLst/>
              <a:gdLst/>
              <a:ahLst/>
              <a:cxnLst/>
              <a:rect r="r" b="b" t="t" l="l"/>
              <a:pathLst>
                <a:path h="698500" w="789248">
                  <a:moveTo>
                    <a:pt x="779070" y="386984"/>
                  </a:moveTo>
                  <a:lnTo>
                    <a:pt x="619778" y="660766"/>
                  </a:lnTo>
                  <a:cubicBezTo>
                    <a:pt x="606186" y="684128"/>
                    <a:pt x="581196" y="698500"/>
                    <a:pt x="554168" y="698500"/>
                  </a:cubicBezTo>
                  <a:lnTo>
                    <a:pt x="235080" y="698500"/>
                  </a:lnTo>
                  <a:cubicBezTo>
                    <a:pt x="208052" y="698500"/>
                    <a:pt x="183062" y="684128"/>
                    <a:pt x="169470" y="660766"/>
                  </a:cubicBezTo>
                  <a:lnTo>
                    <a:pt x="10178" y="386984"/>
                  </a:lnTo>
                  <a:cubicBezTo>
                    <a:pt x="-3393" y="363658"/>
                    <a:pt x="-3393" y="334842"/>
                    <a:pt x="10178" y="311516"/>
                  </a:cubicBezTo>
                  <a:lnTo>
                    <a:pt x="169470" y="37734"/>
                  </a:lnTo>
                  <a:cubicBezTo>
                    <a:pt x="183062" y="14372"/>
                    <a:pt x="208052" y="0"/>
                    <a:pt x="235080" y="0"/>
                  </a:cubicBezTo>
                  <a:lnTo>
                    <a:pt x="554168" y="0"/>
                  </a:lnTo>
                  <a:cubicBezTo>
                    <a:pt x="581196" y="0"/>
                    <a:pt x="606186" y="14372"/>
                    <a:pt x="619778" y="37734"/>
                  </a:cubicBezTo>
                  <a:lnTo>
                    <a:pt x="779070" y="311516"/>
                  </a:lnTo>
                  <a:cubicBezTo>
                    <a:pt x="792641" y="334842"/>
                    <a:pt x="792641" y="363658"/>
                    <a:pt x="779070" y="386984"/>
                  </a:cubicBezTo>
                  <a:close/>
                </a:path>
              </a:pathLst>
            </a:custGeom>
            <a:solidFill>
              <a:srgbClr val="091520"/>
            </a:solidFill>
            <a:ln w="19050" cap="sq">
              <a:solidFill>
                <a:srgbClr val="F9F9F9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92510" y="400141"/>
            <a:ext cx="15502979" cy="182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79"/>
              </a:lnSpc>
            </a:pPr>
            <a:r>
              <a:rPr lang="en-US" sz="10699">
                <a:solidFill>
                  <a:srgbClr val="F9F9F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Preventation Methods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9966" y="2414171"/>
            <a:ext cx="16959334" cy="6858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0179" indent="-495090" lvl="1">
              <a:lnSpc>
                <a:spcPts val="6420"/>
              </a:lnSpc>
              <a:buFont typeface="Arial"/>
              <a:buChar char="•"/>
            </a:pPr>
            <a:r>
              <a:rPr lang="en-US" sz="458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Protective coatings: apply anti-corrosion layers on the fuselage to prevent moisture damage </a:t>
            </a:r>
          </a:p>
          <a:p>
            <a:pPr algn="l" marL="990179" indent="-495090" lvl="1">
              <a:lnSpc>
                <a:spcPts val="6420"/>
              </a:lnSpc>
              <a:buFont typeface="Arial"/>
              <a:buChar char="•"/>
            </a:pPr>
            <a:r>
              <a:rPr lang="en-US" sz="458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Regular repainting: maintain coating quality and prevent surface degradation.</a:t>
            </a:r>
          </a:p>
          <a:p>
            <a:pPr algn="l" marL="990179" indent="-495090" lvl="1">
              <a:lnSpc>
                <a:spcPts val="6420"/>
              </a:lnSpc>
              <a:buFont typeface="Arial"/>
              <a:buChar char="•"/>
            </a:pPr>
            <a:r>
              <a:rPr lang="en-US" sz="458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Surface inspections: check for cracks, peeling paint, or corrosion around rivets.</a:t>
            </a:r>
          </a:p>
          <a:p>
            <a:pPr algn="l" marL="990179" indent="-495090" lvl="1">
              <a:lnSpc>
                <a:spcPts val="6420"/>
              </a:lnSpc>
              <a:buFont typeface="Arial"/>
              <a:buChar char="•"/>
            </a:pPr>
            <a:r>
              <a:rPr lang="en-US" sz="4586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Improved materials/design: use better bonding methods and add extra protective layers</a:t>
            </a:r>
          </a:p>
          <a:p>
            <a:pPr algn="l">
              <a:lnSpc>
                <a:spcPts val="292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DAHHHbt2JfU</dc:identifier>
  <dcterms:modified xsi:type="dcterms:W3CDTF">2011-08-01T06:04:30Z</dcterms:modified>
  <cp:revision>1</cp:revision>
  <dc:title>Blue and White Modern Aerospace Presentation</dc:title>
</cp:coreProperties>
</file>